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4A65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84"/>
  </p:normalViewPr>
  <p:slideViewPr>
    <p:cSldViewPr snapToGrid="0">
      <p:cViewPr>
        <p:scale>
          <a:sx n="113" d="100"/>
          <a:sy n="113" d="100"/>
        </p:scale>
        <p:origin x="520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B2FFA-0D48-65F0-107E-B37064B9E0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25084-8C14-591E-4CE0-74A77D3542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DF051-E323-43B4-7EA0-2D5228E12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14DD1-FE3D-194F-965B-48956418FC5F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C5565-EB19-F0C8-E872-DD2EC9F6A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77BBD-5BBD-C3D7-D4C8-CCD4959DD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F319B-48E6-DC46-83DC-B0D26C597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2576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78BC7-95F5-AEDA-CA47-B4B1CA073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D4CC3-0B08-EA3F-7B5F-961FAB304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C1F7B-FC60-3758-92C5-886325395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14DD1-FE3D-194F-965B-48956418FC5F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1A23D-8669-D8C8-B313-BFBEF003D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5BD13-8CB0-3882-007D-348512CE8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F319B-48E6-DC46-83DC-B0D26C597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338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B8A55-AFE5-35D7-FD10-3B427A35E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EF819-573A-D31C-103D-91E1877DB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5C426-BAD3-B892-165B-37718D86D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14DD1-FE3D-194F-965B-48956418FC5F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EA1BD-280B-A339-8BF2-45EC6099B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67F06-69C6-54CE-9BD2-7E07B6726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F319B-48E6-DC46-83DC-B0D26C597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6103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6C9BA-0016-0D6C-BF84-F8B5AA10C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58F54-883D-7A00-3D3B-DA457860B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89423C-8A95-DE7C-5BE1-DBBCB574B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32DDE-B902-A994-BE00-67C33E84C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14DD1-FE3D-194F-965B-48956418FC5F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5CCAB-2046-6D21-A1E6-664F39325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27C8E-F621-62B0-B6A8-2EF73B458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F319B-48E6-DC46-83DC-B0D26C597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8079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8B8F5-53BE-7267-6589-FAD0C1822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B414C-E4AF-B138-8A7A-05124754C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EEB29-655D-22DF-B661-54BB08B86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28F586-8D57-C1F0-0819-4161BCC01B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A90EE5-0814-70C6-2346-D48AE2AF4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629885-DFED-E607-7C2A-D3DA7A732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14DD1-FE3D-194F-965B-48956418FC5F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21727D-5D05-9EA5-A0EF-D484C4839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054521-4969-C6CB-AEBA-58C965C8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F319B-48E6-DC46-83DC-B0D26C597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423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D051-6AB6-03E1-1B19-086D923F6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1B54B6-021F-F82A-B38D-0D69FDCE0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14DD1-FE3D-194F-965B-48956418FC5F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316C73-C23B-C180-A5B4-2EF51D208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C90310-3BE1-32A4-5714-B8F5C3C99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F319B-48E6-DC46-83DC-B0D26C597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148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E39596-D53E-8D93-7F34-74F085259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14DD1-FE3D-194F-965B-48956418FC5F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D81499-AEA0-472F-17D8-FD4B9670E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308F0-180B-A795-0D7F-CEE4F836C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F319B-48E6-DC46-83DC-B0D26C597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6695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C564B-A96F-67C1-2CBC-CC0802855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5CA7F-E07B-D2CF-E020-971409B2B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E8F89A-F3CD-D4E0-2BB9-01AB5C015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1F17E-7745-24A6-E927-804064F71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14DD1-FE3D-194F-965B-48956418FC5F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47C3AF-F393-61D5-B9F2-5C261C99B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AEC3E-4BBA-0A8E-75F9-6D77FD33A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F319B-48E6-DC46-83DC-B0D26C597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2062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7707E-B644-B865-A83C-9C8445276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AE8D09-91A9-94B8-3B15-69E0DE64BE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039876-DBF1-A5D0-C5EC-57874C3BD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4D3120-DCB7-D2D6-53D5-39F2AC89F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14DD1-FE3D-194F-965B-48956418FC5F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B259A4-D797-56B6-7079-C39449FF1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4D2EB-C9A5-1288-49F2-3FAC4FB15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F319B-48E6-DC46-83DC-B0D26C597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5053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A5300-5F6A-EB5B-BC9F-2ADE8C26F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38C783-B10C-D3E8-2F36-EA990A102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E1B90-14B7-C7C7-EA88-4658EF61B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14DD1-FE3D-194F-965B-48956418FC5F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11119-3C41-0129-031D-02121D05C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5AFE6-038B-3230-3E90-8C738344B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F319B-48E6-DC46-83DC-B0D26C597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2124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0C928A-FC7C-0FEB-EB8A-C3C7448F85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0347F-E4D3-08F5-68BC-6E581C653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20459-DA18-7ED0-FA45-6B564BD61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14DD1-FE3D-194F-965B-48956418FC5F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BCA3C-281E-2E25-F6BB-1F528BF3D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51D4F-FC76-42EC-D529-132F77C95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F319B-48E6-DC46-83DC-B0D26C597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371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911006-F4B1-E1A2-96DA-92DBF64CF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8E60B-094D-5E0F-FA65-59EA0AEB2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D7707-059E-59A4-5492-DF32F41B89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514DD1-FE3D-194F-965B-48956418FC5F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7087B-69B8-C3CE-E752-2099D87EBB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AE44A-64D1-4542-DE79-C4BFC0B3C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7F319B-48E6-DC46-83DC-B0D26C597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32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EE29B-C407-D6FA-9185-1856F38A3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3784" y="1234262"/>
            <a:ext cx="6239549" cy="1881472"/>
          </a:xfrm>
        </p:spPr>
        <p:txBody>
          <a:bodyPr>
            <a:normAutofit fontScale="90000"/>
          </a:bodyPr>
          <a:lstStyle/>
          <a:p>
            <a:r>
              <a:rPr lang="en-GB" b="1" dirty="0">
                <a:latin typeface="Baskerville" panose="02020502070401020303" pitchFamily="18" charset="0"/>
                <a:ea typeface="Baskerville" panose="02020502070401020303" pitchFamily="18" charset="0"/>
              </a:rPr>
              <a:t>JVMG + </a:t>
            </a:r>
            <a:r>
              <a:rPr lang="en-GB" b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VinLOD</a:t>
            </a:r>
            <a:r>
              <a:rPr lang="en-GB" b="1" dirty="0">
                <a:latin typeface="Baskerville" panose="02020502070401020303" pitchFamily="18" charset="0"/>
                <a:ea typeface="Baskerville" panose="02020502070401020303" pitchFamily="18" charset="0"/>
              </a:rPr>
              <a:t> Saga Tiny Use CASE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8857ED9-EC8C-12F4-F1C6-5157B671E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3784" y="3526408"/>
            <a:ext cx="3235833" cy="325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7D10834E-CE4F-1AB4-3B88-B454FEA97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9617" y="3429000"/>
            <a:ext cx="3309579" cy="3257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EB75A673-7484-8EF0-F751-1E4084228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8392" y="-581539"/>
            <a:ext cx="5407377" cy="7633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5069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2FD92-5F15-FB1B-2E0E-A15ADA2BB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Baskerville" panose="02020502070401020303" pitchFamily="18" charset="0"/>
                <a:ea typeface="Baskerville" panose="02020502070401020303" pitchFamily="18" charset="0"/>
              </a:rPr>
              <a:t>JVMG and </a:t>
            </a:r>
            <a:r>
              <a:rPr lang="en-GB" b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VinLOD</a:t>
            </a:r>
            <a:r>
              <a:rPr lang="en-GB" b="1" dirty="0">
                <a:latin typeface="Baskerville" panose="02020502070401020303" pitchFamily="18" charset="0"/>
                <a:ea typeface="Baskerville" panose="02020502070401020303" pitchFamily="18" charset="0"/>
              </a:rPr>
              <a:t> Alignment</a:t>
            </a:r>
          </a:p>
        </p:txBody>
      </p:sp>
      <p:pic>
        <p:nvPicPr>
          <p:cNvPr id="5" name="Picture 4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8395F1EA-16BD-2208-B927-2A4DAB722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113" y="4312356"/>
            <a:ext cx="6451282" cy="2046441"/>
          </a:xfrm>
          <a:prstGeom prst="rect">
            <a:avLst/>
          </a:prstGeom>
        </p:spPr>
      </p:pic>
      <p:pic>
        <p:nvPicPr>
          <p:cNvPr id="7" name="Picture 6" descr="A screen shot of a computer&#10;&#10;Description automatically generated">
            <a:extLst>
              <a:ext uri="{FF2B5EF4-FFF2-40B4-BE49-F238E27FC236}">
                <a16:creationId xmlns:a16="http://schemas.microsoft.com/office/drawing/2014/main" id="{D32351C2-3D67-7F56-C294-4C3C20CB4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73" y="1842446"/>
            <a:ext cx="7541779" cy="2046441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6DF6C990-C54F-54E2-4B44-4F83F56E9BE9}"/>
              </a:ext>
            </a:extLst>
          </p:cNvPr>
          <p:cNvSpPr/>
          <p:nvPr/>
        </p:nvSpPr>
        <p:spPr>
          <a:xfrm>
            <a:off x="587022" y="2923821"/>
            <a:ext cx="4346221" cy="699911"/>
          </a:xfrm>
          <a:prstGeom prst="ellips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098B105-76E0-5AEB-EAD5-BDB574FBDF51}"/>
              </a:ext>
            </a:extLst>
          </p:cNvPr>
          <p:cNvSpPr/>
          <p:nvPr/>
        </p:nvSpPr>
        <p:spPr>
          <a:xfrm>
            <a:off x="1117600" y="2185967"/>
            <a:ext cx="2032000" cy="315578"/>
          </a:xfrm>
          <a:prstGeom prst="ellips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3301E0D-40B1-62DB-E219-518D60937E71}"/>
              </a:ext>
            </a:extLst>
          </p:cNvPr>
          <p:cNvSpPr/>
          <p:nvPr/>
        </p:nvSpPr>
        <p:spPr>
          <a:xfrm>
            <a:off x="5864578" y="5678311"/>
            <a:ext cx="5489222" cy="349956"/>
          </a:xfrm>
          <a:prstGeom prst="ellips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B7B395D8-2D6D-7991-05B6-2BE8D3BFD271}"/>
              </a:ext>
            </a:extLst>
          </p:cNvPr>
          <p:cNvCxnSpPr>
            <a:cxnSpLocks/>
            <a:stCxn id="7" idx="3"/>
            <a:endCxn id="5" idx="0"/>
          </p:cNvCxnSpPr>
          <p:nvPr/>
        </p:nvCxnSpPr>
        <p:spPr>
          <a:xfrm>
            <a:off x="7830352" y="2865667"/>
            <a:ext cx="919402" cy="1446689"/>
          </a:xfrm>
          <a:prstGeom prst="curvedConnector2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968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1B84A0C-9636-629C-4837-BE9E58060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3675"/>
            <a:ext cx="12192000" cy="646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507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20246-5DA3-6BDF-D9E5-10C2A4F71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Baskerville" panose="02020502070401020303" pitchFamily="18" charset="0"/>
                <a:ea typeface="Baskerville" panose="02020502070401020303" pitchFamily="18" charset="0"/>
              </a:rPr>
              <a:t>Query 1 - FRBR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66ACBD-956C-AE9E-4D58-CC2ABFAD5E94}"/>
              </a:ext>
            </a:extLst>
          </p:cNvPr>
          <p:cNvSpPr txBox="1"/>
          <p:nvPr/>
        </p:nvSpPr>
        <p:spPr>
          <a:xfrm>
            <a:off x="838199" y="1485391"/>
            <a:ext cx="1051559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SELECT ?work ?expression ?manifestation ?</a:t>
            </a:r>
            <a:r>
              <a:rPr lang="en-ZA" sz="24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jvmg</a:t>
            </a:r>
            <a:endParaRPr lang="en-ZA" sz="2400" dirty="0">
              <a:effectLst/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r>
              <a:rPr lang="en-ZA" sz="24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WHERE { </a:t>
            </a:r>
          </a:p>
          <a:p>
            <a:r>
              <a:rPr lang="en-ZA" sz="24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?work frbroo:R3 ?expression. </a:t>
            </a:r>
            <a:r>
              <a:rPr lang="en-ZA" sz="1200" i="1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R3-is realised in</a:t>
            </a:r>
          </a:p>
          <a:p>
            <a:r>
              <a:rPr lang="en-ZA" sz="24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?expression frbroo:R4 ?manifestation. </a:t>
            </a:r>
            <a:r>
              <a:rPr lang="en-ZA" sz="1200" i="1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R4-carriers provided by</a:t>
            </a:r>
            <a:r>
              <a:rPr lang="en-ZA" sz="24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  </a:t>
            </a:r>
          </a:p>
          <a:p>
            <a:r>
              <a:rPr lang="en-ZA" sz="24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?manifestation </a:t>
            </a:r>
            <a:r>
              <a:rPr lang="en-ZA" sz="24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owl:sameAs</a:t>
            </a:r>
            <a:r>
              <a:rPr lang="en-ZA" sz="24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?</a:t>
            </a:r>
            <a:r>
              <a:rPr lang="en-ZA" sz="24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jvmg</a:t>
            </a:r>
            <a:endParaRPr lang="en-ZA" sz="2400" dirty="0">
              <a:effectLst/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r>
              <a:rPr lang="en-ZA" sz="24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}</a:t>
            </a:r>
          </a:p>
          <a:p>
            <a:endParaRPr lang="en-GB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2964563-3B5A-BB68-39B7-E29FE6D36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796026"/>
              </p:ext>
            </p:extLst>
          </p:nvPr>
        </p:nvGraphicFramePr>
        <p:xfrm>
          <a:off x="838199" y="3865417"/>
          <a:ext cx="11049001" cy="2431473"/>
        </p:xfrm>
        <a:graphic>
          <a:graphicData uri="http://schemas.openxmlformats.org/drawingml/2006/table">
            <a:tbl>
              <a:tblPr/>
              <a:tblGrid>
                <a:gridCol w="2389835">
                  <a:extLst>
                    <a:ext uri="{9D8B030D-6E8A-4147-A177-3AD203B41FA5}">
                      <a16:colId xmlns:a16="http://schemas.microsoft.com/office/drawing/2014/main" val="1923585995"/>
                    </a:ext>
                  </a:extLst>
                </a:gridCol>
                <a:gridCol w="2359966">
                  <a:extLst>
                    <a:ext uri="{9D8B030D-6E8A-4147-A177-3AD203B41FA5}">
                      <a16:colId xmlns:a16="http://schemas.microsoft.com/office/drawing/2014/main" val="1632866178"/>
                    </a:ext>
                  </a:extLst>
                </a:gridCol>
                <a:gridCol w="3409244">
                  <a:extLst>
                    <a:ext uri="{9D8B030D-6E8A-4147-A177-3AD203B41FA5}">
                      <a16:colId xmlns:a16="http://schemas.microsoft.com/office/drawing/2014/main" val="1053292360"/>
                    </a:ext>
                  </a:extLst>
                </a:gridCol>
                <a:gridCol w="2889956">
                  <a:extLst>
                    <a:ext uri="{9D8B030D-6E8A-4147-A177-3AD203B41FA5}">
                      <a16:colId xmlns:a16="http://schemas.microsoft.com/office/drawing/2014/main" val="1174459954"/>
                    </a:ext>
                  </a:extLst>
                </a:gridCol>
              </a:tblGrid>
              <a:tr h="29537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400" b="1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Work</a:t>
                      </a:r>
                    </a:p>
                  </a:txBody>
                  <a:tcPr marL="60652" marR="60652" marT="15163" marB="1516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400" b="1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Expression</a:t>
                      </a:r>
                    </a:p>
                  </a:txBody>
                  <a:tcPr marL="60652" marR="60652" marT="15163" marB="1516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400" b="1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Manifestation</a:t>
                      </a:r>
                    </a:p>
                  </a:txBody>
                  <a:tcPr marL="60652" marR="60652" marT="15163" marB="1516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400" b="1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JVMG Alignment</a:t>
                      </a:r>
                    </a:p>
                  </a:txBody>
                  <a:tcPr marL="60652" marR="60652" marT="15163" marB="1516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96656"/>
                  </a:ext>
                </a:extLst>
              </a:tr>
              <a:tr h="769525"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-saga/work/</a:t>
                      </a:r>
                      <a:r>
                        <a:rPr lang="en-ZA" sz="14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Vinland_Saga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60652" marR="60652" marT="15163" marB="1516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-saga/item/</a:t>
                      </a:r>
                      <a:r>
                        <a:rPr lang="en-ZA" sz="14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Vinland_Anime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60652" marR="60652" marT="15163" marB="1516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-saga/program/</a:t>
                      </a:r>
                      <a:r>
                        <a:rPr lang="en-ZA" sz="14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Vinland_TelevisionSeries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60652" marR="60652" marT="15163" marB="1516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&lt;http://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mediagraph.link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/</a:t>
                      </a:r>
                      <a:r>
                        <a:rPr lang="en-ZA" sz="14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madb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/id/C441040&gt;</a:t>
                      </a:r>
                    </a:p>
                  </a:txBody>
                  <a:tcPr marL="60652" marR="60652" marT="15163" marB="1516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566181"/>
                  </a:ext>
                </a:extLst>
              </a:tr>
              <a:tr h="553983"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-saga/work/</a:t>
                      </a:r>
                      <a:r>
                        <a:rPr lang="en-ZA" sz="14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Vinland_Saga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60652" marR="60652" marT="15163" marB="1516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-saga/item/</a:t>
                      </a:r>
                      <a:r>
                        <a:rPr lang="en-ZA" sz="14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Vinland_Manga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60652" marR="60652" marT="15163" marB="1516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-saga/publication/</a:t>
                      </a:r>
                      <a:r>
                        <a:rPr lang="en-ZA" sz="14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Vinland_BookSeries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60652" marR="60652" marT="15163" marB="1516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&lt;http://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mediagraph.link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/</a:t>
                      </a:r>
                      <a:r>
                        <a:rPr lang="en-ZA" sz="14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madb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/id/C312277&gt;</a:t>
                      </a:r>
                    </a:p>
                  </a:txBody>
                  <a:tcPr marL="60652" marR="60652" marT="15163" marB="1516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471480"/>
                  </a:ext>
                </a:extLst>
              </a:tr>
              <a:tr h="812595"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-saga/work/</a:t>
                      </a:r>
                      <a:r>
                        <a:rPr lang="en-ZA" sz="14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Vinland_Saga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60652" marR="60652" marT="15163" marB="1516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-saga/item/</a:t>
                      </a:r>
                      <a:r>
                        <a:rPr lang="en-ZA" sz="14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Vinland_Manga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60652" marR="60652" marT="15163" marB="1516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-saga/publication/</a:t>
                      </a:r>
                      <a:r>
                        <a:rPr lang="en-ZA" sz="14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Vinland_MagazineSeries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60652" marR="60652" marT="15163" marB="1516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&lt;http://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mediagraph.link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/</a:t>
                      </a:r>
                      <a:r>
                        <a:rPr lang="en-ZA" sz="14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madb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/id/C90253&gt;</a:t>
                      </a:r>
                    </a:p>
                  </a:txBody>
                  <a:tcPr marL="60652" marR="60652" marT="15163" marB="1516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372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0911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8E84-275C-9DB0-C434-9063E258B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Baskerville" panose="02020502070401020303" pitchFamily="18" charset="0"/>
                <a:ea typeface="Baskerville" panose="02020502070401020303" pitchFamily="18" charset="0"/>
              </a:rPr>
              <a:t>Query 2 – Historical People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5331FB-74C3-F47F-D191-52C9AC4E5726}"/>
              </a:ext>
            </a:extLst>
          </p:cNvPr>
          <p:cNvSpPr txBox="1"/>
          <p:nvPr/>
        </p:nvSpPr>
        <p:spPr>
          <a:xfrm>
            <a:off x="838200" y="1371600"/>
            <a:ext cx="8915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SELECT ?</a:t>
            </a:r>
            <a:r>
              <a:rPr lang="en-ZA" sz="24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vinlodChar</a:t>
            </a:r>
            <a:r>
              <a:rPr lang="en-ZA" sz="24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?</a:t>
            </a:r>
            <a:r>
              <a:rPr lang="en-ZA" sz="24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jvmgChar</a:t>
            </a:r>
            <a:r>
              <a:rPr lang="en-ZA" sz="24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?</a:t>
            </a:r>
            <a:r>
              <a:rPr lang="en-ZA" sz="24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histPerson</a:t>
            </a:r>
            <a:endParaRPr lang="en-ZA" sz="2400" dirty="0">
              <a:effectLst/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r>
              <a:rPr lang="en-ZA" sz="24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WHERE { </a:t>
            </a:r>
          </a:p>
          <a:p>
            <a:r>
              <a:rPr lang="en-ZA" sz="24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  ?</a:t>
            </a:r>
            <a:r>
              <a:rPr lang="en-ZA" sz="24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vinlodChar</a:t>
            </a:r>
            <a:r>
              <a:rPr lang="en-ZA" sz="24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a &lt;https://w3id.org/</a:t>
            </a:r>
            <a:r>
              <a:rPr lang="en-ZA" sz="24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vinLOD</a:t>
            </a:r>
            <a:r>
              <a:rPr lang="en-ZA" sz="24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-saga/class/Character&gt; ;</a:t>
            </a:r>
          </a:p>
          <a:p>
            <a:r>
              <a:rPr lang="en-ZA" sz="24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  </a:t>
            </a:r>
            <a:r>
              <a:rPr lang="en-ZA" sz="24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owl:sameAs</a:t>
            </a:r>
            <a:r>
              <a:rPr lang="en-ZA" sz="24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?</a:t>
            </a:r>
            <a:r>
              <a:rPr lang="en-ZA" sz="24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jvmgChar</a:t>
            </a:r>
            <a:r>
              <a:rPr lang="en-ZA" sz="24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;</a:t>
            </a:r>
          </a:p>
          <a:p>
            <a:r>
              <a:rPr lang="en-ZA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  </a:t>
            </a:r>
            <a:r>
              <a:rPr lang="en-ZA" sz="24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frbroo:R57 ?</a:t>
            </a:r>
            <a:r>
              <a:rPr lang="en-ZA" sz="24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histPerson</a:t>
            </a:r>
            <a:r>
              <a:rPr lang="en-ZA" sz="24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. </a:t>
            </a:r>
            <a:r>
              <a:rPr lang="en-ZA" sz="1200" i="1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R57-is based on</a:t>
            </a:r>
          </a:p>
          <a:p>
            <a:r>
              <a:rPr lang="en-ZA" sz="24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}</a:t>
            </a:r>
          </a:p>
          <a:p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61B69A1-419D-A995-3B78-686990DB0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8735"/>
              </p:ext>
            </p:extLst>
          </p:nvPr>
        </p:nvGraphicFramePr>
        <p:xfrm>
          <a:off x="838200" y="3720606"/>
          <a:ext cx="10067925" cy="2933700"/>
        </p:xfrm>
        <a:graphic>
          <a:graphicData uri="http://schemas.openxmlformats.org/drawingml/2006/table">
            <a:tbl>
              <a:tblPr/>
              <a:tblGrid>
                <a:gridCol w="3158067">
                  <a:extLst>
                    <a:ext uri="{9D8B030D-6E8A-4147-A177-3AD203B41FA5}">
                      <a16:colId xmlns:a16="http://schemas.microsoft.com/office/drawing/2014/main" val="941632420"/>
                    </a:ext>
                  </a:extLst>
                </a:gridCol>
                <a:gridCol w="3280833">
                  <a:extLst>
                    <a:ext uri="{9D8B030D-6E8A-4147-A177-3AD203B41FA5}">
                      <a16:colId xmlns:a16="http://schemas.microsoft.com/office/drawing/2014/main" val="3416752555"/>
                    </a:ext>
                  </a:extLst>
                </a:gridCol>
                <a:gridCol w="3629025">
                  <a:extLst>
                    <a:ext uri="{9D8B030D-6E8A-4147-A177-3AD203B41FA5}">
                      <a16:colId xmlns:a16="http://schemas.microsoft.com/office/drawing/2014/main" val="2026556153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b="1" dirty="0" err="1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b="1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 Character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b="1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JVMG Character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b="1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Historical Person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1961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ctr"/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-saga/character/</a:t>
                      </a:r>
                      <a:r>
                        <a:rPr lang="en-ZA" b="1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Canute</a:t>
                      </a:r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&lt;http://</a:t>
                      </a:r>
                      <a:r>
                        <a:rPr lang="en-ZA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mediagraph.link</a:t>
                      </a:r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/</a:t>
                      </a:r>
                      <a:r>
                        <a:rPr lang="en-ZA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acdb</a:t>
                      </a:r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/character/97943&gt;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-saga/person/</a:t>
                      </a:r>
                      <a:r>
                        <a:rPr lang="en-ZA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Cnut_the_Great</a:t>
                      </a:r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2439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ctr"/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-saga/character/</a:t>
                      </a:r>
                      <a:r>
                        <a:rPr lang="en-ZA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Leif_Erikson</a:t>
                      </a:r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&lt;http://</a:t>
                      </a:r>
                      <a:r>
                        <a:rPr lang="en-ZA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mediagraph.link</a:t>
                      </a:r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/</a:t>
                      </a:r>
                      <a:r>
                        <a:rPr lang="en-ZA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acdb</a:t>
                      </a:r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/character/22915&gt;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-saga/person/</a:t>
                      </a:r>
                      <a:r>
                        <a:rPr lang="en-ZA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Leiv_Eiriksson</a:t>
                      </a:r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08588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ctr"/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-saga/character/</a:t>
                      </a:r>
                      <a:r>
                        <a:rPr lang="en-ZA" b="1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Sweyn</a:t>
                      </a:r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&lt;http://</a:t>
                      </a:r>
                      <a:r>
                        <a:rPr lang="en-ZA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mediagraph.link</a:t>
                      </a:r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/</a:t>
                      </a:r>
                      <a:r>
                        <a:rPr lang="en-ZA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acdb</a:t>
                      </a:r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/character/130047&gt;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-saga/person/</a:t>
                      </a:r>
                      <a:r>
                        <a:rPr lang="en-ZA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Sweyn_Forkbeard</a:t>
                      </a:r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00408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ctr"/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-saga/character/</a:t>
                      </a:r>
                      <a:r>
                        <a:rPr lang="en-ZA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Thorkell</a:t>
                      </a:r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&lt;http://</a:t>
                      </a:r>
                      <a:r>
                        <a:rPr lang="en-ZA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mediagraph.link</a:t>
                      </a:r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/</a:t>
                      </a:r>
                      <a:r>
                        <a:rPr lang="en-ZA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acdb</a:t>
                      </a:r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/character/97944&gt;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-saga/person/</a:t>
                      </a:r>
                      <a:r>
                        <a:rPr lang="en-ZA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Thorkell_the_Tall</a:t>
                      </a:r>
                      <a:r>
                        <a:rPr lang="en-ZA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070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5374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AE8BA-922E-6CA7-8A2A-7C86B48D2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50874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Baskerville" panose="02020502070401020303" pitchFamily="18" charset="0"/>
                <a:ea typeface="Baskerville" panose="02020502070401020303" pitchFamily="18" charset="0"/>
              </a:rPr>
              <a:t>Query 3 – Historical Items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42879F-6EB5-7AA5-561F-9B9BA3A4DE7A}"/>
              </a:ext>
            </a:extLst>
          </p:cNvPr>
          <p:cNvSpPr txBox="1"/>
          <p:nvPr/>
        </p:nvSpPr>
        <p:spPr>
          <a:xfrm>
            <a:off x="838199" y="650874"/>
            <a:ext cx="108204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6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SELECT ?</a:t>
            </a:r>
            <a:r>
              <a:rPr lang="en-ZA" sz="16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vinlodChar</a:t>
            </a:r>
            <a:r>
              <a:rPr lang="en-ZA" sz="16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?</a:t>
            </a:r>
            <a:r>
              <a:rPr lang="en-ZA" sz="16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jvmgChar</a:t>
            </a:r>
            <a:r>
              <a:rPr lang="en-ZA" sz="16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?</a:t>
            </a:r>
            <a:r>
              <a:rPr lang="en-ZA" sz="16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histPerson</a:t>
            </a:r>
            <a:r>
              <a:rPr lang="en-ZA" sz="16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?</a:t>
            </a:r>
            <a:r>
              <a:rPr lang="en-ZA" sz="16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histItem</a:t>
            </a:r>
            <a:endParaRPr lang="en-ZA" sz="1600" dirty="0">
              <a:effectLst/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r>
              <a:rPr lang="en-ZA" sz="16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WHERE { </a:t>
            </a:r>
          </a:p>
          <a:p>
            <a:r>
              <a:rPr lang="en-ZA" sz="16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  ?</a:t>
            </a:r>
            <a:r>
              <a:rPr lang="en-ZA" sz="16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vinlodChar</a:t>
            </a:r>
            <a:r>
              <a:rPr lang="en-ZA" sz="16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a &lt;https://w3id.org/</a:t>
            </a:r>
            <a:r>
              <a:rPr lang="en-ZA" sz="16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vinLOD</a:t>
            </a:r>
            <a:r>
              <a:rPr lang="en-ZA" sz="16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-saga/class/Character&gt; ;</a:t>
            </a:r>
          </a:p>
          <a:p>
            <a:r>
              <a:rPr lang="en-ZA" sz="16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  </a:t>
            </a:r>
            <a:r>
              <a:rPr lang="en-ZA" sz="16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owl:sameAs?jvmgChar</a:t>
            </a:r>
            <a:r>
              <a:rPr lang="en-ZA" sz="16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;</a:t>
            </a:r>
          </a:p>
          <a:p>
            <a:r>
              <a:rPr lang="en-ZA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  </a:t>
            </a:r>
            <a:r>
              <a:rPr lang="en-ZA" sz="16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frbroo:R57 ?</a:t>
            </a:r>
            <a:r>
              <a:rPr lang="en-ZA" sz="16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histPerson</a:t>
            </a:r>
            <a:r>
              <a:rPr lang="en-ZA" sz="16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. </a:t>
            </a:r>
            <a:r>
              <a:rPr lang="en-ZA" sz="1200" i="1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R57-is based on</a:t>
            </a:r>
            <a:endParaRPr lang="en-ZA" sz="1200" dirty="0">
              <a:effectLst/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r>
              <a:rPr lang="en-ZA" sz="16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  </a:t>
            </a:r>
          </a:p>
          <a:p>
            <a:r>
              <a:rPr lang="en-ZA" sz="16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  ?</a:t>
            </a:r>
            <a:r>
              <a:rPr lang="en-ZA" sz="16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histItem</a:t>
            </a:r>
            <a:r>
              <a:rPr lang="en-ZA" sz="16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a crm:E24_Physical_Human-Made_Thing .</a:t>
            </a:r>
          </a:p>
          <a:p>
            <a:r>
              <a:rPr lang="en-ZA" sz="16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  {?</a:t>
            </a:r>
            <a:r>
              <a:rPr lang="en-ZA" sz="16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histPerson</a:t>
            </a:r>
            <a:r>
              <a:rPr lang="en-ZA" sz="16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?p ?</a:t>
            </a:r>
            <a:r>
              <a:rPr lang="en-ZA" sz="16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histItem</a:t>
            </a:r>
            <a:r>
              <a:rPr lang="en-ZA" sz="16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}</a:t>
            </a:r>
          </a:p>
          <a:p>
            <a:r>
              <a:rPr lang="en-ZA" sz="16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  union</a:t>
            </a:r>
          </a:p>
          <a:p>
            <a:r>
              <a:rPr lang="en-ZA" sz="16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  {?</a:t>
            </a:r>
            <a:r>
              <a:rPr lang="en-ZA" sz="16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histPerson</a:t>
            </a:r>
            <a:r>
              <a:rPr lang="en-ZA" sz="16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      crm:P11i_participated_in/crm:P9_consists_of/crm:P16_used_specific_object/crm:P17i_motivated/crm:P92_brought_into_existence  ?</a:t>
            </a:r>
            <a:r>
              <a:rPr lang="en-ZA" sz="16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histItem</a:t>
            </a:r>
            <a:r>
              <a:rPr lang="en-ZA" sz="16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.}</a:t>
            </a:r>
          </a:p>
          <a:p>
            <a:r>
              <a:rPr lang="en-ZA" sz="16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  union</a:t>
            </a:r>
          </a:p>
          <a:p>
            <a:r>
              <a:rPr lang="en-ZA" sz="16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  {?</a:t>
            </a:r>
            <a:r>
              <a:rPr lang="en-ZA" sz="16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histPerson</a:t>
            </a:r>
            <a:r>
              <a:rPr lang="en-ZA" sz="16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crm:P67i_is_referred_to_by/crm:P130i_features_are_also_found_on  ?</a:t>
            </a:r>
            <a:r>
              <a:rPr lang="en-ZA" sz="16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histItem</a:t>
            </a:r>
            <a:r>
              <a:rPr lang="en-ZA" sz="16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.}</a:t>
            </a:r>
          </a:p>
          <a:p>
            <a:r>
              <a:rPr lang="en-ZA" sz="16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}</a:t>
            </a:r>
          </a:p>
          <a:p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00F611-8CAD-C5FB-9AFD-E6B79B7BE6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889557"/>
              </p:ext>
            </p:extLst>
          </p:nvPr>
        </p:nvGraphicFramePr>
        <p:xfrm>
          <a:off x="838199" y="4417296"/>
          <a:ext cx="10820399" cy="2357226"/>
        </p:xfrm>
        <a:graphic>
          <a:graphicData uri="http://schemas.openxmlformats.org/drawingml/2006/table">
            <a:tbl>
              <a:tblPr/>
              <a:tblGrid>
                <a:gridCol w="2587487">
                  <a:extLst>
                    <a:ext uri="{9D8B030D-6E8A-4147-A177-3AD203B41FA5}">
                      <a16:colId xmlns:a16="http://schemas.microsoft.com/office/drawing/2014/main" val="1644440811"/>
                    </a:ext>
                  </a:extLst>
                </a:gridCol>
                <a:gridCol w="2546136">
                  <a:extLst>
                    <a:ext uri="{9D8B030D-6E8A-4147-A177-3AD203B41FA5}">
                      <a16:colId xmlns:a16="http://schemas.microsoft.com/office/drawing/2014/main" val="307800676"/>
                    </a:ext>
                  </a:extLst>
                </a:gridCol>
                <a:gridCol w="2640256">
                  <a:extLst>
                    <a:ext uri="{9D8B030D-6E8A-4147-A177-3AD203B41FA5}">
                      <a16:colId xmlns:a16="http://schemas.microsoft.com/office/drawing/2014/main" val="606023687"/>
                    </a:ext>
                  </a:extLst>
                </a:gridCol>
                <a:gridCol w="3046520">
                  <a:extLst>
                    <a:ext uri="{9D8B030D-6E8A-4147-A177-3AD203B41FA5}">
                      <a16:colId xmlns:a16="http://schemas.microsoft.com/office/drawing/2014/main" val="991786530"/>
                    </a:ext>
                  </a:extLst>
                </a:gridCol>
              </a:tblGrid>
              <a:tr h="3203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400" b="1" dirty="0" err="1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sz="1400" b="1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 Character</a:t>
                      </a:r>
                    </a:p>
                  </a:txBody>
                  <a:tcPr marL="58339" marR="58339" marT="14585" marB="14585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400" b="1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JVMG Character</a:t>
                      </a:r>
                    </a:p>
                  </a:txBody>
                  <a:tcPr marL="58339" marR="58339" marT="14585" marB="1458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400" b="1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Historical Person</a:t>
                      </a:r>
                    </a:p>
                  </a:txBody>
                  <a:tcPr marL="58339" marR="58339" marT="14585" marB="1458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400" b="1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Historical Item</a:t>
                      </a:r>
                    </a:p>
                  </a:txBody>
                  <a:tcPr marL="58339" marR="58339" marT="14585" marB="1458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940789"/>
                  </a:ext>
                </a:extLst>
              </a:tr>
              <a:tr h="449210"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-saga/character/</a:t>
                      </a:r>
                      <a:r>
                        <a:rPr lang="en-ZA" sz="14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Leif_Erikson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58339" marR="58339" marT="14585" marB="14585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&lt;http://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mediagraph.link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/</a:t>
                      </a:r>
                      <a:r>
                        <a:rPr lang="en-ZA" sz="14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acdb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/character/22915&gt;</a:t>
                      </a:r>
                    </a:p>
                  </a:txBody>
                  <a:tcPr marL="58339" marR="58339" marT="14585" marB="1458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-saga/person/</a:t>
                      </a:r>
                      <a:r>
                        <a:rPr lang="en-ZA" sz="14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Leiv_Eiriksson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58339" marR="58339" marT="14585" marB="1458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-saga/item/</a:t>
                      </a:r>
                      <a:r>
                        <a:rPr lang="en-ZA" sz="14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Flatjarbok_Manuscript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58339" marR="58339" marT="14585" marB="1458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375637"/>
                  </a:ext>
                </a:extLst>
              </a:tr>
              <a:tr h="449210"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-saga/character/</a:t>
                      </a:r>
                      <a:r>
                        <a:rPr lang="en-ZA" sz="14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Thorkell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58339" marR="58339" marT="14585" marB="14585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&lt;http://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mediagraph.link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/</a:t>
                      </a:r>
                      <a:r>
                        <a:rPr lang="en-ZA" sz="14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acdb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/character/97944&gt;</a:t>
                      </a:r>
                    </a:p>
                  </a:txBody>
                  <a:tcPr marL="58339" marR="58339" marT="14585" marB="1458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-saga/person/</a:t>
                      </a:r>
                      <a:r>
                        <a:rPr lang="en-ZA" sz="14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Thorkell_the_Tall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58339" marR="58339" marT="14585" marB="1458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-saga/item/</a:t>
                      </a:r>
                      <a:r>
                        <a:rPr lang="en-ZA" sz="14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Flatjarbok_Manuscript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58339" marR="58339" marT="14585" marB="1458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185052"/>
                  </a:ext>
                </a:extLst>
              </a:tr>
              <a:tr h="449210"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-saga/character/</a:t>
                      </a:r>
                      <a:r>
                        <a:rPr lang="en-ZA" sz="1400" b="1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Canute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58339" marR="58339" marT="14585" marB="14585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&lt;http://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mediagraph.link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/</a:t>
                      </a:r>
                      <a:r>
                        <a:rPr lang="en-ZA" sz="14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acdb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/character/97943&gt;</a:t>
                      </a:r>
                    </a:p>
                  </a:txBody>
                  <a:tcPr marL="58339" marR="58339" marT="14585" marB="1458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-saga/person/</a:t>
                      </a:r>
                      <a:r>
                        <a:rPr lang="en-ZA" sz="14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Cnut_the_Great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58339" marR="58339" marT="14585" marB="1458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-saga/item/</a:t>
                      </a:r>
                      <a:r>
                        <a:rPr lang="en-ZA" sz="14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Cnut_Coin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58339" marR="58339" marT="14585" marB="1458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814136"/>
                  </a:ext>
                </a:extLst>
              </a:tr>
              <a:tr h="449210"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-saga/character/</a:t>
                      </a:r>
                      <a:r>
                        <a:rPr lang="en-ZA" sz="14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Leif_Erikson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58339" marR="58339" marT="14585" marB="14585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&lt;http://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mediagraph.link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/</a:t>
                      </a:r>
                      <a:r>
                        <a:rPr lang="en-ZA" sz="14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acdb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/character/22915&gt;</a:t>
                      </a:r>
                    </a:p>
                  </a:txBody>
                  <a:tcPr marL="58339" marR="58339" marT="14585" marB="1458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-saga/person/</a:t>
                      </a:r>
                      <a:r>
                        <a:rPr lang="en-ZA" sz="14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Leiv_Eiriksson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58339" marR="58339" marT="14585" marB="1458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&lt;https://w3id.org/</a:t>
                      </a:r>
                      <a:r>
                        <a:rPr lang="en-ZA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vinLOD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-saga/item/</a:t>
                      </a:r>
                      <a:r>
                        <a:rPr lang="en-ZA" sz="14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Eiriksson_Painting</a:t>
                      </a:r>
                      <a:r>
                        <a:rPr lang="en-ZA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&gt;</a:t>
                      </a:r>
                    </a:p>
                  </a:txBody>
                  <a:tcPr marL="58339" marR="58339" marT="14585" marB="1458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413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5925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187</TotalTime>
  <Words>858</Words>
  <Application>Microsoft Macintosh PowerPoint</Application>
  <PresentationFormat>Widescreen</PresentationFormat>
  <Paragraphs>81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Baskerville</vt:lpstr>
      <vt:lpstr>Roboto</vt:lpstr>
      <vt:lpstr>Office Theme</vt:lpstr>
      <vt:lpstr>JVMG + VinLOD Saga Tiny Use CASE</vt:lpstr>
      <vt:lpstr>JVMG and VinLOD Alignment</vt:lpstr>
      <vt:lpstr>PowerPoint Presentation</vt:lpstr>
      <vt:lpstr>Query 1 - FRBR</vt:lpstr>
      <vt:lpstr>Query 2 – Historical People</vt:lpstr>
      <vt:lpstr>Query 3 – Historical Items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Regina Manyara</dc:creator>
  <cp:lastModifiedBy>Regina Manyara</cp:lastModifiedBy>
  <cp:revision>2</cp:revision>
  <dcterms:created xsi:type="dcterms:W3CDTF">2025-11-21T10:50:47Z</dcterms:created>
  <dcterms:modified xsi:type="dcterms:W3CDTF">2025-11-21T13:58:44Z</dcterms:modified>
</cp:coreProperties>
</file>